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complete NLP workflow: exploration, feature engineering, model selection, validation, and a Streamlit deployment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precision–recall trade-off. Accuracy alone is insufficient because disaster tweets are the minority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six-stage pipeline and underline the leakage-safe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keyword overlap makes context essential. A keyword-only classifier would struggle with figurative uses such as “wrecked” or “armageddon.”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supports the use of n-grams rather than isolated counts: many high-frequency words are not class-exclusive.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n-grams restore local context. Several disaster phrases describe specific event narratives, while non-disaster phrases include platform and media chatter.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removes expressive punctuation and URLs, which simplifies the baseline but may discard useful context. That limitation is tested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pretrained embeddings were not used because none were supplied and the environment is designed for a transparent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location values are expected metadata gaps, not failures in the modeling text or label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imbalance is moderate, not extreme. The chosen 80/20 split preserves prevalence almost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leads CV F1, while Naive Bayes leads precision and Linear SVM leads recall. Selection is based on the predeclared cross-validation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confusion matrix to translate metrics into cases. Threshold selection should depend on whether missed events or false alarms are more costly.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SVM has the highest test F1 and recall, but selecting it after seeing the test results would leak evaluation information. Logistic Regression remains the defensible deployment candidate.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abbreviations are stable. Added social-media artifacts change predictions more substantially and reduce precision, motivating real-world robustness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governance message: the system supports triage, not automatic emergency response. The next milestone is prospective validation and threshold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909560" y="-1097280"/>
            <a:ext cx="5303520" cy="5303520"/>
          </a:xfrm>
          <a:prstGeom prst="arc">
            <a:avLst/>
          </a:prstGeom>
          <a:solidFill>
            <a:srgbClr val="0C7C79">
              <a:alpha val="70000"/>
            </a:srgbClr>
          </a:solidFill>
          <a:ln w="12700">
            <a:solidFill>
              <a:srgbClr val="0C7C7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120000">
            <a:off x="8412480" y="3017520"/>
            <a:ext cx="4754880" cy="4754880"/>
          </a:xfrm>
          <a:prstGeom prst="arc">
            <a:avLst/>
          </a:prstGeom>
          <a:solidFill>
            <a:srgbClr val="E7654B">
              <a:alpha val="72000"/>
            </a:srgbClr>
          </a:solidFill>
          <a:ln w="12700">
            <a:solidFill>
              <a:srgbClr val="E7654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94360"/>
            <a:ext cx="1051560" cy="64008"/>
          </a:xfrm>
          <a:prstGeom prst="rect">
            <a:avLst/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7863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D9C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PROCESSING  ·  MACHINE LEARNING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252728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Tweet</a:t>
            </a:r>
            <a:endParaRPr lang="en-US" sz="4100" dirty="0"/>
          </a:p>
          <a:p>
            <a:pPr algn="l" indent="0" marL="0">
              <a:buNone/>
            </a:pPr>
            <a:r>
              <a:rPr lang="en-US" sz="4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4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7DB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disaster identification from social media using interpretable NLP and supervised learning.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" y="44165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4A4035"/>
          </a:solidFill>
          <a:ln w="12700">
            <a:solidFill>
              <a:srgbClr val="4A40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4425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15-SLIDE PROJECT REVIEW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62656" y="4416552"/>
            <a:ext cx="2423160" cy="292608"/>
          </a:xfrm>
          <a:prstGeom prst="roundRect">
            <a:avLst>
              <a:gd name="adj" fmla="val 50000"/>
            </a:avLst>
          </a:prstGeom>
          <a:solidFill>
            <a:srgbClr val="24403F"/>
          </a:solidFill>
          <a:ln w="12700">
            <a:solidFill>
              <a:srgbClr val="244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2656" y="4425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5EB5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→ MODEL → DEPLOYMENT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632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AEB4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8704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 PRAKASH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7  /  Disaster intelligence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61504" y="987552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2B3039"/>
          </a:solidFill>
          <a:ln w="12700">
            <a:solidFill>
              <a:srgbClr val="3940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1353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/ NOISE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18836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7,613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B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tweets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27264" y="3063240"/>
            <a:ext cx="2697480" cy="0"/>
          </a:xfrm>
          <a:prstGeom prst="line">
            <a:avLst/>
          </a:prstGeom>
          <a:noFill/>
          <a:ln w="12700">
            <a:solidFill>
              <a:srgbClr val="535B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99832" y="33375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EB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81.3%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845552" y="3858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B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accuracy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827264" y="4663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9DE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 +  structure  +  sentiment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27264" y="51389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 decision support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DASHBOARD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precise baseline with clear operating trade-offs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model: tuned Logistic Regression. Results apply to the supplied 7,613-row dataset.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45920"/>
            <a:ext cx="73152" cy="960120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7830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81.3%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185416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ACCURACY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368296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1,523 test tweets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19272" y="164592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1645920"/>
            <a:ext cx="73152" cy="960120"/>
          </a:xfrm>
          <a:prstGeom prst="rect">
            <a:avLst/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7830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82.5%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185416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PRECISION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368296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false alarms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44184" y="164592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4184" y="1645920"/>
            <a:ext cx="73152" cy="96012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5352" y="17830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71.6%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245352" y="2185416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RECALL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2368296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missed-event risk remains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769096" y="1645920"/>
            <a:ext cx="2578608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69096" y="1645920"/>
            <a:ext cx="73152" cy="960120"/>
          </a:xfrm>
          <a:prstGeom prst="rect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70264" y="17830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76.7%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970264" y="2185416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F1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970264" y="2368296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mean: 75.3%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2944368"/>
            <a:ext cx="6967728" cy="3090672"/>
          </a:xfrm>
          <a:prstGeom prst="roundRect">
            <a:avLst>
              <a:gd name="adj" fmla="val 2367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project delivered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77824" y="3657600"/>
            <a:ext cx="310896" cy="310896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7824" y="3675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36484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670048" y="36484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balance, data quality, keywords, words and phrases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7824" y="4178808"/>
            <a:ext cx="310896" cy="310896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" y="419709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41696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670048" y="4169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cleaning plus stratified 80/20 split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7824" y="4700016"/>
            <a:ext cx="310896" cy="310896"/>
          </a:xfrm>
          <a:prstGeom prst="ellipse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" y="47183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325880" y="4690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670048" y="46908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Leakage-safe comparison of NB, Logistic Regression and Linear SVM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77824" y="5221224"/>
            <a:ext cx="310896" cy="310896"/>
          </a:xfrm>
          <a:prstGeom prst="ellipse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7824" y="5239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325880" y="52120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670048" y="52120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pipeline with Streamlit-ready inference workflow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99832" y="2944368"/>
            <a:ext cx="3557016" cy="3090672"/>
          </a:xfrm>
          <a:prstGeom prst="roundRect">
            <a:avLst>
              <a:gd name="adj" fmla="val 2367"/>
            </a:avLst>
          </a:prstGeom>
          <a:solidFill>
            <a:srgbClr val="4B2638"/>
          </a:solidFill>
          <a:ln w="12700">
            <a:solidFill>
              <a:srgbClr val="4B263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10728" y="32095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lens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8110728" y="3657600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E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strongest as a triage aid—not an autonomous alerting system.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110728" y="4553712"/>
            <a:ext cx="2697480" cy="0"/>
          </a:xfrm>
          <a:prstGeom prst="line">
            <a:avLst/>
          </a:prstGeom>
          <a:noFill/>
          <a:ln w="12700">
            <a:solidFill>
              <a:srgbClr val="8D627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10728" y="47731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control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110728" y="50566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operating threshold on a separate validation set with emergency-response stakeholders.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tasks, one reproducible decision pipeline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transformation is trained on training data only; the held-out test set is reserved for final assessment.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31136" y="2834640"/>
            <a:ext cx="365760" cy="530352"/>
          </a:xfrm>
          <a:prstGeom prst="chevron">
            <a:avLst/>
          </a:prstGeom>
          <a:solidFill>
            <a:srgbClr val="D8D1C7"/>
          </a:solidFill>
          <a:ln w="12700">
            <a:solidFill>
              <a:srgbClr val="D8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56816"/>
            <a:ext cx="1627632" cy="3310128"/>
          </a:xfrm>
          <a:prstGeom prst="roundRect">
            <a:avLst>
              <a:gd name="adj" fmla="val 4494"/>
            </a:avLst>
          </a:prstGeom>
          <a:solidFill>
            <a:srgbClr val="FFFDF8"/>
          </a:solidFill>
          <a:ln w="12700">
            <a:solidFill>
              <a:srgbClr val="E2D8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221992"/>
            <a:ext cx="658368" cy="658368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3865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272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02736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Structure, missingness, class balance and language signals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14984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5EFEC"/>
          </a:solidFill>
          <a:ln w="12700">
            <a:solidFill>
              <a:srgbClr val="E5EF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4984" y="4809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2834640"/>
            <a:ext cx="365760" cy="530352"/>
          </a:xfrm>
          <a:prstGeom prst="chevron">
            <a:avLst/>
          </a:prstGeom>
          <a:solidFill>
            <a:srgbClr val="D8D1C7"/>
          </a:solidFill>
          <a:ln w="12700">
            <a:solidFill>
              <a:srgbClr val="D8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42032" y="1956816"/>
            <a:ext cx="1627632" cy="3310128"/>
          </a:xfrm>
          <a:prstGeom prst="roundRect">
            <a:avLst>
              <a:gd name="adj" fmla="val 4494"/>
            </a:avLst>
          </a:prstGeom>
          <a:solidFill>
            <a:srgbClr val="FFFDF8"/>
          </a:solidFill>
          <a:ln w="12700">
            <a:solidFill>
              <a:srgbClr val="E2D8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26664" y="2221992"/>
            <a:ext cx="658368" cy="658368"/>
          </a:xfrm>
          <a:prstGeom prst="ellipse">
            <a:avLst/>
          </a:prstGeom>
          <a:solidFill>
            <a:srgbClr val="4C9C8F"/>
          </a:solidFill>
          <a:ln w="12700">
            <a:solidFill>
              <a:srgbClr val="4C9C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26664" y="23865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06624" y="31272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706624" y="3602736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text, preserve originals, stratify and export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98648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5EFEC"/>
          </a:solidFill>
          <a:ln w="12700">
            <a:solidFill>
              <a:srgbClr val="E5EF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98648" y="4809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4C9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98464" y="2834640"/>
            <a:ext cx="365760" cy="530352"/>
          </a:xfrm>
          <a:prstGeom prst="chevron">
            <a:avLst/>
          </a:prstGeom>
          <a:solidFill>
            <a:srgbClr val="D8D1C7"/>
          </a:solidFill>
          <a:ln w="12700">
            <a:solidFill>
              <a:srgbClr val="D8D1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25696" y="1956816"/>
            <a:ext cx="1627632" cy="3310128"/>
          </a:xfrm>
          <a:prstGeom prst="roundRect">
            <a:avLst>
              <a:gd name="adj" fmla="val 4494"/>
            </a:avLst>
          </a:prstGeom>
          <a:solidFill>
            <a:srgbClr val="FFFDF8"/>
          </a:solidFill>
          <a:ln w="12700">
            <a:solidFill>
              <a:srgbClr val="E2D8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0328" y="2221992"/>
            <a:ext cx="658368" cy="658368"/>
          </a:xfrm>
          <a:prstGeom prst="ellipse">
            <a:avLst/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10328" y="23865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31272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3602736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Word/character TF-IDF plus 12 numeric signals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82312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5EFEC"/>
          </a:solidFill>
          <a:ln w="12700">
            <a:solidFill>
              <a:srgbClr val="E5EF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82312" y="4809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82128" y="2834640"/>
            <a:ext cx="365760" cy="530352"/>
          </a:xfrm>
          <a:prstGeom prst="chevron">
            <a:avLst/>
          </a:prstGeom>
          <a:solidFill>
            <a:srgbClr val="D8D1C7"/>
          </a:solidFill>
          <a:ln w="12700">
            <a:solidFill>
              <a:srgbClr val="D8D1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1956816"/>
            <a:ext cx="1627632" cy="3310128"/>
          </a:xfrm>
          <a:prstGeom prst="roundRect">
            <a:avLst>
              <a:gd name="adj" fmla="val 4494"/>
            </a:avLst>
          </a:prstGeom>
          <a:solidFill>
            <a:srgbClr val="FFFDF8"/>
          </a:solidFill>
          <a:ln w="12700">
            <a:solidFill>
              <a:srgbClr val="E2D8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2221992"/>
            <a:ext cx="658368" cy="658368"/>
          </a:xfrm>
          <a:prstGeom prst="ellipse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93992" y="23865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31272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473952" y="3602736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Five-fold CV, precision-led tuning, holdout evaluation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65976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E3DE"/>
          </a:solidFill>
          <a:ln w="12700">
            <a:solidFill>
              <a:srgbClr val="F5E3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65976" y="4809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E76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765792" y="2834640"/>
            <a:ext cx="365760" cy="530352"/>
          </a:xfrm>
          <a:prstGeom prst="chevron">
            <a:avLst/>
          </a:prstGeom>
          <a:solidFill>
            <a:srgbClr val="D8D1C7"/>
          </a:solidFill>
          <a:ln w="12700">
            <a:solidFill>
              <a:srgbClr val="D8D1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93024" y="1956816"/>
            <a:ext cx="1627632" cy="3310128"/>
          </a:xfrm>
          <a:prstGeom prst="roundRect">
            <a:avLst>
              <a:gd name="adj" fmla="val 4494"/>
            </a:avLst>
          </a:prstGeom>
          <a:solidFill>
            <a:srgbClr val="FFFDF8"/>
          </a:solidFill>
          <a:ln w="12700">
            <a:solidFill>
              <a:srgbClr val="E2D8C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77656" y="2221992"/>
            <a:ext cx="658368" cy="658368"/>
          </a:xfrm>
          <a:prstGeom prst="ellipse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77656" y="23865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357616" y="31272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8357616" y="3602736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 gaps and deterministic stress tests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549640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E3DE"/>
          </a:solidFill>
          <a:ln w="12700">
            <a:solidFill>
              <a:srgbClr val="F5E3D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49640" y="4809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6F3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076688" y="1956816"/>
            <a:ext cx="1627632" cy="3310128"/>
          </a:xfrm>
          <a:prstGeom prst="roundRect">
            <a:avLst>
              <a:gd name="adj" fmla="val 4494"/>
            </a:avLst>
          </a:prstGeom>
          <a:solidFill>
            <a:srgbClr val="FFFDF8"/>
          </a:solidFill>
          <a:ln w="12700">
            <a:solidFill>
              <a:srgbClr val="E2D8C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61320" y="2221992"/>
            <a:ext cx="658368" cy="658368"/>
          </a:xfrm>
          <a:prstGeom prst="ellipse">
            <a:avLst/>
          </a:prstGeom>
          <a:solidFill>
            <a:srgbClr val="4B2638"/>
          </a:solidFill>
          <a:ln w="12700">
            <a:solidFill>
              <a:srgbClr val="4B263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561320" y="23865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0" y="31272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700" dirty="0"/>
          </a:p>
        </p:txBody>
      </p:sp>
      <p:sp>
        <p:nvSpPr>
          <p:cNvPr id="51" name="Text 49"/>
          <p:cNvSpPr txBox="1"/>
          <p:nvPr/>
        </p:nvSpPr>
        <p:spPr>
          <a:xfrm>
            <a:off x="10241280" y="3602736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pipeline and Streamlit user interface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433304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E3DE"/>
          </a:solidFill>
          <a:ln w="12700">
            <a:solidFill>
              <a:srgbClr val="F5E3D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433304" y="4809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18688" y="5577840"/>
            <a:ext cx="5806440" cy="658368"/>
          </a:xfrm>
          <a:prstGeom prst="roundRect">
            <a:avLst>
              <a:gd name="adj" fmla="val 11111"/>
            </a:avLst>
          </a:prstGeom>
          <a:solidFill>
            <a:srgbClr val="FFF8F2"/>
          </a:solidFill>
          <a:ln w="12700">
            <a:solidFill>
              <a:srgbClr val="F0D2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18688" y="5577840"/>
            <a:ext cx="82296" cy="658368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19856" y="57058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principle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419856" y="5971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separates exploration from modeling, preserves raw text, fixes random seeds and avoids using the test set for model selection.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· DATA EXPLORATION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metadata separates literal events from figurative noise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supplied keyword field is metadata; it is distinct from words extracted from tweet text.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101852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664208"/>
            <a:ext cx="10689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graph · Top 15 keywords within each class</a:t>
            </a:r>
            <a:endParaRPr lang="en-US" sz="1050" dirty="0"/>
          </a:p>
        </p:txBody>
      </p:sp>
      <p:pic>
        <p:nvPicPr>
          <p:cNvPr id="9" name="Image 0" descr="/tmp/nlp_nb_extract/cell_13_out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10799064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5925312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8F2"/>
          </a:solidFill>
          <a:ln w="12700">
            <a:solidFill>
              <a:srgbClr val="F0D2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5925312"/>
            <a:ext cx="82296" cy="566928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6053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signals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6318504"/>
            <a:ext cx="4937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derailment, outbreak and wreckage each occur 39 times; oil spill, typhoon and debris follow closely.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90488" y="5925312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8F2"/>
          </a:solidFill>
          <a:ln w="12700">
            <a:solidFill>
              <a:srgbClr val="F0D2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90488" y="5925312"/>
            <a:ext cx="82296" cy="566928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1656" y="6053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Ambiguity to model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391656" y="6318504"/>
            <a:ext cx="4937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bags, armageddon, harm and wrecked also appear frequently in non-disaster tweets—often figuratively.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· DATA EXPLORATION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frequency reveals topic signal—and conversational overlap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URLs and common stop words are removed for this exploratory view; frequency alone is not a decision rule.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581912"/>
            <a:ext cx="836676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673352"/>
            <a:ext cx="8037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graph · Top words by class</a:t>
            </a:r>
            <a:endParaRPr lang="en-US" sz="1050" dirty="0"/>
          </a:p>
        </p:txBody>
      </p:sp>
      <p:pic>
        <p:nvPicPr>
          <p:cNvPr id="9" name="Image 0" descr="/tmp/nlp_nb_extract/cell_15_out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47672"/>
            <a:ext cx="8147304" cy="40782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89720" y="1581912"/>
            <a:ext cx="2423160" cy="4553712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64040" y="18470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DEDEA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64040" y="18562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9464040" y="22951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language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464040" y="2660904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 · disaster · suicide · police · killed · storm · fires · crash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464040" y="382219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8E2DC"/>
          </a:solidFill>
          <a:ln w="12700">
            <a:solidFill>
              <a:srgbClr val="F8E2D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64040" y="38313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E76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9464040" y="42702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overlap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4626864"/>
            <a:ext cx="1783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“like,” “just,” “people” and “body” occur in both contexts; sequence and structure provide discrimination.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· INTERACTIVE DASHBOARD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Phrase mining adds context that single words cannot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dashboard organizes bigrams and trigrams by class; these graphs summarize its four views.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591056"/>
            <a:ext cx="5504688" cy="4279392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682496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Bigrams · two-word patterns</a:t>
            </a:r>
            <a:endParaRPr lang="en-US" sz="1050" dirty="0"/>
          </a:p>
        </p:txBody>
      </p:sp>
      <p:pic>
        <p:nvPicPr>
          <p:cNvPr id="9" name="Image 0" descr="/tmp/nlp_nb_extract/cell_15_out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56816"/>
            <a:ext cx="5285232" cy="38039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54496" y="1591056"/>
            <a:ext cx="5358384" cy="4279392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16824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Trigrams · three-word patterns</a:t>
            </a:r>
            <a:endParaRPr lang="en-US" sz="1050" dirty="0"/>
          </a:p>
        </p:txBody>
      </p:sp>
      <p:pic>
        <p:nvPicPr>
          <p:cNvPr id="12" name="Image 1" descr="/tmp/nlp_nb_extract/cell_15_out_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956816"/>
            <a:ext cx="5138928" cy="38039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58952" y="5971032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DDEDEA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58952" y="5980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DISASTER BIGRAM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2487168" y="5971032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suicide bomber  ·  59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07992" y="5971032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EE3E8"/>
          </a:solidFill>
          <a:ln w="12700">
            <a:solidFill>
              <a:srgbClr val="EEE3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07992" y="59801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6F3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DISASTER TRIGRAM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6281928" y="5971032"/>
            <a:ext cx="2542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suicide bomber detonated  ·  30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942832" y="589788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phrase clusters may reflect duplicated stories or event bursts—use grouped/event-aware validation in future work.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· DATA PREPARATION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preserves evidence; stratification preserves prevalence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tweet remains available for audit while a normalized representation feeds the baseline models.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3504" y="1600200"/>
            <a:ext cx="6693408" cy="4535424"/>
          </a:xfrm>
          <a:prstGeom prst="roundRect">
            <a:avLst>
              <a:gd name="adj" fmla="val 1613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transformation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6112" y="2368296"/>
            <a:ext cx="402336" cy="402336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244144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35915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42032" y="2359152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original_text is retained unchanged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770632"/>
            <a:ext cx="0" cy="347472"/>
          </a:xfrm>
          <a:prstGeom prst="line">
            <a:avLst/>
          </a:prstGeom>
          <a:noFill/>
          <a:ln w="12700">
            <a:solidFill>
              <a:srgbClr val="C8C0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118104"/>
            <a:ext cx="402336" cy="402336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1912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310896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42032" y="3108960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URLs, HTML fragments, punctuation and special characters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3520440"/>
            <a:ext cx="0" cy="347472"/>
          </a:xfrm>
          <a:prstGeom prst="line">
            <a:avLst/>
          </a:prstGeom>
          <a:noFill/>
          <a:ln w="12700">
            <a:solidFill>
              <a:srgbClr val="C8C0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867912"/>
            <a:ext cx="402336" cy="402336"/>
          </a:xfrm>
          <a:prstGeom prst="ellipse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39410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3858768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542032" y="3858768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lowercase and collapse repeated whitespace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4270248"/>
            <a:ext cx="0" cy="347472"/>
          </a:xfrm>
          <a:prstGeom prst="line">
            <a:avLst/>
          </a:prstGeom>
          <a:noFill/>
          <a:ln w="12700">
            <a:solidFill>
              <a:srgbClr val="C8C0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617720"/>
            <a:ext cx="402336" cy="402336"/>
          </a:xfrm>
          <a:prstGeom prst="ellipse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46908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60857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542032" y="4608576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clean text; zero empty token lists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62088" y="1600200"/>
            <a:ext cx="3776472" cy="4535424"/>
          </a:xfrm>
          <a:prstGeom prst="roundRect">
            <a:avLst>
              <a:gd name="adj" fmla="val 1937"/>
            </a:avLst>
          </a:prstGeom>
          <a:solidFill>
            <a:srgbClr val="4B2638"/>
          </a:solidFill>
          <a:ln w="12700">
            <a:solidFill>
              <a:srgbClr val="4B26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72984" y="18562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Stratified 80 / 20 split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245059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EB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6,090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7891272" y="293522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7DD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rows · 42.97% disaster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43814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5A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1,523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7891272" y="392277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7DD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rows · 42.94% disaster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82128" y="4370832"/>
            <a:ext cx="2743200" cy="0"/>
          </a:xfrm>
          <a:prstGeom prst="line">
            <a:avLst/>
          </a:prstGeom>
          <a:noFill/>
          <a:ln w="12700">
            <a:solidFill>
              <a:srgbClr val="8D627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82128" y="4617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882128" y="491947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 = 42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overlapping IDs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splits exported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· FEATURE ENGINEERING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44,239 features combine language, spelling and tweet structure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vectorizers and scalers are fit on training rows only, then applied unchanged to test data.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12648" y="1627632"/>
            <a:ext cx="3319272" cy="1956816"/>
          </a:xfrm>
          <a:prstGeom prst="roundRect">
            <a:avLst>
              <a:gd name="adj" fmla="val 3738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627632"/>
            <a:ext cx="3319272" cy="91440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938528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14,227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4144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TF-IDF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7706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unigrams + bigrams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min_df = 2 · sublinear TF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23944" y="1627632"/>
            <a:ext cx="3319272" cy="1956816"/>
          </a:xfrm>
          <a:prstGeom prst="roundRect">
            <a:avLst>
              <a:gd name="adj" fmla="val 3738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23944" y="1627632"/>
            <a:ext cx="3319272" cy="91440"/>
          </a:xfrm>
          <a:prstGeom prst="rect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2544" y="1938528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30,000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352544" y="244144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6F3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TF-IDF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52544" y="27706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3–5 grams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to spelling variation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35240" y="1627632"/>
            <a:ext cx="3648456" cy="1956816"/>
          </a:xfrm>
          <a:prstGeom prst="roundRect">
            <a:avLst>
              <a:gd name="adj" fmla="val 3738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1627632"/>
            <a:ext cx="3648456" cy="91440"/>
          </a:xfrm>
          <a:prstGeom prst="rect">
            <a:avLst/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3852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44144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+ SENTIMENT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770632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length, hashtags, mentions, URLs, punctuation, casing and lexicon signals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" y="3858768"/>
            <a:ext cx="6839712" cy="2148840"/>
          </a:xfrm>
          <a:prstGeom prst="roundRect">
            <a:avLst>
              <a:gd name="adj" fmla="val 3404"/>
            </a:avLst>
          </a:prstGeom>
          <a:solidFill>
            <a:srgbClr val="EDF4F2"/>
          </a:solidFill>
          <a:ln w="12700">
            <a:solidFill>
              <a:srgbClr val="D3E3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sparse matrix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461772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C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6,090 × 44,239</a:t>
            </a:r>
            <a:endParaRPr 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" y="51023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1,313,231 non-zero training values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4599432"/>
            <a:ext cx="811621" cy="384048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55021" y="4599432"/>
            <a:ext cx="1711438" cy="384048"/>
          </a:xfrm>
          <a:prstGeom prst="rect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66459" y="4599432"/>
            <a:ext cx="685" cy="384048"/>
          </a:xfrm>
          <a:prstGeom prst="rect">
            <a:avLst/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34256" y="51297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32.2%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13248" y="51297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F3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67.8%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71816" y="3858768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4B2638"/>
          </a:solidFill>
          <a:ln w="12700">
            <a:solidFill>
              <a:srgbClr val="4B26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73568" y="4123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mix works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973568" y="4599432"/>
            <a:ext cx="2697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E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Words capture recognizable phrases. Characters capture typos and variants. Structural signals preserve social-media behavior that cleaned text removes.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· DATA EXPLORATION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profile and quality dashboard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fields describe each tweet; text and labels are complete, while location is optional and often absent.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12648" y="16459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645920"/>
            <a:ext cx="73152" cy="960120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178308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7,613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218541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2368296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38,065 cells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16459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645920"/>
            <a:ext cx="73152" cy="960120"/>
          </a:xfrm>
          <a:prstGeom prst="rect">
            <a:avLst/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44368" y="178308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218541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368296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keyword · location · text · target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73752" y="16459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3752" y="1645920"/>
            <a:ext cx="73152" cy="960120"/>
          </a:xfrm>
          <a:prstGeom prst="rect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178308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93.18%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18541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COMPLETENESS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2368296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text + target present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04304" y="16459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4304" y="1645920"/>
            <a:ext cx="73152" cy="96012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05472" y="178308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218541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ROWS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2368296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7,613 unique IDs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34856" y="16459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34856" y="1645920"/>
            <a:ext cx="73152" cy="960120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36024" y="178308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7,503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336024" y="218541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TEXTS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336024" y="2368296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repeated texts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" y="2944368"/>
            <a:ext cx="662940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Field-level completeness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74520" y="3694176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4520" y="3694176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89320" y="36576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65392" y="3657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7,613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" y="40782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874520" y="4114800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4520" y="4114800"/>
            <a:ext cx="3945819" cy="128016"/>
          </a:xfrm>
          <a:prstGeom prst="roundRect">
            <a:avLst>
              <a:gd name="adj" fmla="val 50000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40782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99.20%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565392" y="40782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7,552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77824" y="4498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874520" y="4535424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4535424"/>
            <a:ext cx="2653484" cy="128016"/>
          </a:xfrm>
          <a:prstGeom prst="roundRect">
            <a:avLst>
              <a:gd name="adj" fmla="val 50000"/>
            </a:avLst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89320" y="44988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66.71%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565392" y="44988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5,079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77824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874520" y="4956048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4956048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89320" y="4919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565392" y="4919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7,613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77824" y="5340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874520" y="5376672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5376672"/>
            <a:ext cx="3977640" cy="128016"/>
          </a:xfrm>
          <a:prstGeom prst="roundRect">
            <a:avLst>
              <a:gd name="adj" fmla="val 50000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989320" y="53400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6565392" y="5340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7,613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479792" y="2944368"/>
            <a:ext cx="3858768" cy="3063240"/>
          </a:xfrm>
          <a:prstGeom prst="roundRect">
            <a:avLst>
              <a:gd name="adj" fmla="val 2388"/>
            </a:avLst>
          </a:prstGeom>
          <a:solidFill>
            <a:srgbClr val="EEF4F2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72400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7772400" y="3675888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readiness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77240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blank tweets, no missing labels and only valid binary targets.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7772400" y="4709160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E76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7772400" y="496519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brief references 10,000 rows; the supplied file contains 7,613. Metrics must be refreshed if the source changes.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· DATA EXPLORATION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balance: manageable, but not symmetric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57/43 split supports standard stratified evaluation while making precision, recall and F1 essential.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3504" y="1600200"/>
            <a:ext cx="6876288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91640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graph · Tweet count by target class</a:t>
            </a:r>
            <a:endParaRPr lang="en-US" sz="1050" dirty="0"/>
          </a:p>
        </p:txBody>
      </p:sp>
      <p:pic>
        <p:nvPicPr>
          <p:cNvPr id="9" name="Image 0" descr="/tmp/nlp_nb_extract/cell_11_ou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65960"/>
            <a:ext cx="6656832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44968" y="1600200"/>
            <a:ext cx="3575304" cy="4498848"/>
          </a:xfrm>
          <a:prstGeom prst="roundRect">
            <a:avLst>
              <a:gd name="adj" fmla="val 2046"/>
            </a:avLst>
          </a:prstGeom>
          <a:solidFill>
            <a:srgbClr val="4B2638"/>
          </a:solidFill>
          <a:ln w="12700">
            <a:solidFill>
              <a:srgbClr val="4B263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65008" y="1911096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5E4450"/>
          </a:solidFill>
          <a:ln w="12700">
            <a:solidFill>
              <a:srgbClr val="5E44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65008" y="1920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BALANCE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450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4,342</a:t>
            </a:r>
            <a:endParaRPr lang="en-US" sz="3100" dirty="0"/>
          </a:p>
        </p:txBody>
      </p:sp>
      <p:sp>
        <p:nvSpPr>
          <p:cNvPr id="14" name="Text 11"/>
          <p:cNvSpPr txBox="1"/>
          <p:nvPr/>
        </p:nvSpPr>
        <p:spPr>
          <a:xfrm>
            <a:off x="8083296" y="29443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5D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non-disaster  ·  57.03%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34655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EB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3,271</a:t>
            </a:r>
            <a:endParaRPr lang="en-US" sz="3100" dirty="0"/>
          </a:p>
        </p:txBody>
      </p:sp>
      <p:sp>
        <p:nvSpPr>
          <p:cNvPr id="16" name="Text 13"/>
          <p:cNvSpPr txBox="1"/>
          <p:nvPr/>
        </p:nvSpPr>
        <p:spPr>
          <a:xfrm>
            <a:off x="808329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5D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 ·  42.97%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83296" y="4443984"/>
            <a:ext cx="2697480" cy="0"/>
          </a:xfrm>
          <a:prstGeom prst="line">
            <a:avLst/>
          </a:prstGeom>
          <a:noFill/>
          <a:ln w="12700">
            <a:solidFill>
              <a:srgbClr val="8D627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83296" y="46817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083296" y="4983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stratification and evaluate the disaster class explicitly; accuracy alone can hide missed events.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· MODEL SELECTION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 selects the most balanced baseline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stratified folds compare candidates by F1; a three-fold grid search then prioritizes precision.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3504" y="1609344"/>
            <a:ext cx="7095744" cy="4462272"/>
          </a:xfrm>
          <a:prstGeom prst="roundRect">
            <a:avLst>
              <a:gd name="adj" fmla="val 1639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Five-fold mean performance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48716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514600"/>
            <a:ext cx="4160520" cy="219456"/>
          </a:xfrm>
          <a:prstGeom prst="roundRect">
            <a:avLst>
              <a:gd name="adj" fmla="val 50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514600"/>
            <a:ext cx="3686221" cy="219456"/>
          </a:xfrm>
          <a:prstGeom prst="roundRect">
            <a:avLst>
              <a:gd name="adj" fmla="val 50000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3448" y="248716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75.3%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8346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82.2  ·  Recall 69.5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49300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SVM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3520440"/>
            <a:ext cx="4160520" cy="219456"/>
          </a:xfrm>
          <a:prstGeom prst="roundRect">
            <a:avLst>
              <a:gd name="adj" fmla="val 50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3520440"/>
            <a:ext cx="3631400" cy="219456"/>
          </a:xfrm>
          <a:prstGeom prst="roundRect">
            <a:avLst>
              <a:gd name="adj" fmla="val 50000"/>
            </a:avLst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3448" y="349300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74.2%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8404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77.8  ·  Recall 71.0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498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Multinomial Naive Bayes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4526280"/>
            <a:ext cx="4160520" cy="219456"/>
          </a:xfrm>
          <a:prstGeom prst="roundRect">
            <a:avLst>
              <a:gd name="adj" fmla="val 50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4526280"/>
            <a:ext cx="3606926" cy="219456"/>
          </a:xfrm>
          <a:prstGeom prst="roundRect">
            <a:avLst>
              <a:gd name="adj" fmla="val 50000"/>
            </a:avLst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13448" y="449884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F3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73.7%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484632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84.8  ·  Recall 65.2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5577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8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scale  0 → 85%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46136" y="1609344"/>
            <a:ext cx="3392424" cy="4462272"/>
          </a:xfrm>
          <a:prstGeom prst="roundRect">
            <a:avLst>
              <a:gd name="adj" fmla="val 2156"/>
            </a:avLst>
          </a:prstGeom>
          <a:solidFill>
            <a:srgbClr val="4B2638"/>
          </a:solidFill>
          <a:ln w="12700">
            <a:solidFill>
              <a:srgbClr val="4B26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1901952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5E4450"/>
          </a:solidFill>
          <a:ln w="12700">
            <a:solidFill>
              <a:srgbClr val="5E44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47888" y="191109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2414016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257032" y="35844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SETTINGS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57032" y="3904488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E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= 0.5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3E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class_weight = None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3E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solver = liblinear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57032" y="4956048"/>
            <a:ext cx="2514600" cy="0"/>
          </a:xfrm>
          <a:prstGeom prst="line">
            <a:avLst/>
          </a:prstGeom>
          <a:noFill/>
          <a:ln w="12700">
            <a:solidFill>
              <a:srgbClr val="8D627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57032" y="5175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5D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tuning CV precision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57032" y="54589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EB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81.57%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· FINAL EVALUATION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selected model identifies 468 disaster tweets correctly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test metrics confirm usable precision with a meaningful recall gap.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12648" y="1572768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572768"/>
            <a:ext cx="73152" cy="960120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1709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81.3%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2112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24912" y="1572768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572768"/>
            <a:ext cx="73152" cy="960120"/>
          </a:xfrm>
          <a:prstGeom prst="rect">
            <a:avLst/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709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82.5%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112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37176" y="1572768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1572768"/>
            <a:ext cx="73152" cy="96012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38344" y="1709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71.6%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038344" y="2112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1572768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E6DE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572768"/>
            <a:ext cx="73152" cy="960120"/>
          </a:xfrm>
          <a:prstGeom prst="rect">
            <a:avLst/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0608" y="1709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76.7%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112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" y="2743200"/>
            <a:ext cx="6931152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2834640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graph · Tuned Logistic Regression confusion matrix</a:t>
            </a:r>
            <a:endParaRPr lang="en-US" sz="1050" dirty="0"/>
          </a:p>
        </p:txBody>
      </p:sp>
      <p:pic>
        <p:nvPicPr>
          <p:cNvPr id="25" name="Image 0" descr="/tmp/nlp_nb_extract/cell_53_out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108960"/>
            <a:ext cx="6711696" cy="299923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799832" y="2743200"/>
            <a:ext cx="3538728" cy="3474720"/>
          </a:xfrm>
          <a:prstGeom prst="roundRect">
            <a:avLst>
              <a:gd name="adj" fmla="val 2105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9244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anatomy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092440" y="35478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C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770</a:t>
            </a:r>
            <a:endParaRPr lang="en-US" sz="2300" dirty="0"/>
          </a:p>
        </p:txBody>
      </p:sp>
      <p:sp>
        <p:nvSpPr>
          <p:cNvPr id="29" name="Text 26"/>
          <p:cNvSpPr txBox="1"/>
          <p:nvPr/>
        </p:nvSpPr>
        <p:spPr>
          <a:xfrm>
            <a:off x="8933688" y="36393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non-disasters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092440" y="40873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F3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468</a:t>
            </a:r>
            <a:endParaRPr lang="en-US" sz="2300" dirty="0"/>
          </a:p>
        </p:txBody>
      </p:sp>
      <p:sp>
        <p:nvSpPr>
          <p:cNvPr id="31" name="Text 28"/>
          <p:cNvSpPr txBox="1"/>
          <p:nvPr/>
        </p:nvSpPr>
        <p:spPr>
          <a:xfrm>
            <a:off x="8933688" y="41788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disasters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4626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5A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2300" dirty="0"/>
          </a:p>
        </p:txBody>
      </p:sp>
      <p:sp>
        <p:nvSpPr>
          <p:cNvPr id="33" name="Text 30"/>
          <p:cNvSpPr txBox="1"/>
          <p:nvPr/>
        </p:nvSpPr>
        <p:spPr>
          <a:xfrm>
            <a:off x="8933688" y="47183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alarms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092440" y="5166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76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</a:t>
            </a:r>
            <a:endParaRPr lang="en-US" sz="2300" dirty="0"/>
          </a:p>
        </p:txBody>
      </p:sp>
      <p:sp>
        <p:nvSpPr>
          <p:cNvPr id="35" name="Text 32"/>
          <p:cNvSpPr txBox="1"/>
          <p:nvPr/>
        </p:nvSpPr>
        <p:spPr>
          <a:xfrm>
            <a:off x="8933688" y="52578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disasters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028432" y="5678424"/>
            <a:ext cx="2880360" cy="393192"/>
          </a:xfrm>
          <a:prstGeom prst="roundRect">
            <a:avLst>
              <a:gd name="adj" fmla="val 18605"/>
            </a:avLst>
          </a:prstGeom>
          <a:solidFill>
            <a:srgbClr val="FFF8F2"/>
          </a:solidFill>
          <a:ln w="12700">
            <a:solidFill>
              <a:srgbClr val="F0D2C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28432" y="5678424"/>
            <a:ext cx="82296" cy="393192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5806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meaning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229600" y="6071616"/>
            <a:ext cx="2560320" cy="-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comparatively conservative: false alarms are limited, but 28.4% of disaster tweets are missed at the default threshold.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· COMPARATIVE EVALUATION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candidate dominates every metric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test-set comparison is diagnostic; the deployment choice remains the model selected by cross-validation.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545336"/>
            <a:ext cx="5559552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636776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All-model confusion matrices</a:t>
            </a:r>
            <a:endParaRPr lang="en-US" sz="1050" dirty="0"/>
          </a:p>
        </p:txBody>
      </p:sp>
      <p:pic>
        <p:nvPicPr>
          <p:cNvPr id="9" name="Image 0" descr="/tmp/nlp_nb_extract/cell_58_out_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11096"/>
            <a:ext cx="5340096" cy="19385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18504" y="1545336"/>
            <a:ext cx="5303520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7C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83096" y="163677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and precision–recall curves</a:t>
            </a:r>
            <a:endParaRPr lang="en-US" sz="1050" dirty="0"/>
          </a:p>
        </p:txBody>
      </p:sp>
      <p:pic>
        <p:nvPicPr>
          <p:cNvPr id="12" name="Image 1" descr="/tmp/nlp_nb_extract/cell_60_out_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11096"/>
            <a:ext cx="5084064" cy="19385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4360" y="4160520"/>
            <a:ext cx="11027664" cy="1984248"/>
          </a:xfrm>
          <a:prstGeom prst="roundRect">
            <a:avLst>
              <a:gd name="adj" fmla="val 3687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43982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3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80" dirty="0"/>
          </a:p>
        </p:txBody>
      </p:sp>
      <p:sp>
        <p:nvSpPr>
          <p:cNvPr id="15" name="Text 11"/>
          <p:cNvSpPr txBox="1"/>
          <p:nvPr/>
        </p:nvSpPr>
        <p:spPr>
          <a:xfrm>
            <a:off x="3840480" y="4398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3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80" dirty="0"/>
          </a:p>
        </p:txBody>
      </p:sp>
      <p:sp>
        <p:nvSpPr>
          <p:cNvPr id="16" name="Text 12"/>
          <p:cNvSpPr txBox="1"/>
          <p:nvPr/>
        </p:nvSpPr>
        <p:spPr>
          <a:xfrm>
            <a:off x="4956048" y="439826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3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880" dirty="0"/>
          </a:p>
        </p:txBody>
      </p:sp>
      <p:sp>
        <p:nvSpPr>
          <p:cNvPr id="17" name="Text 13"/>
          <p:cNvSpPr txBox="1"/>
          <p:nvPr/>
        </p:nvSpPr>
        <p:spPr>
          <a:xfrm>
            <a:off x="6089904" y="439826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3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880" dirty="0"/>
          </a:p>
        </p:txBody>
      </p:sp>
      <p:sp>
        <p:nvSpPr>
          <p:cNvPr id="18" name="Text 14"/>
          <p:cNvSpPr txBox="1"/>
          <p:nvPr/>
        </p:nvSpPr>
        <p:spPr>
          <a:xfrm>
            <a:off x="7159752" y="439826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3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880" dirty="0"/>
          </a:p>
        </p:txBody>
      </p:sp>
      <p:sp>
        <p:nvSpPr>
          <p:cNvPr id="19" name="Text 15"/>
          <p:cNvSpPr txBox="1"/>
          <p:nvPr/>
        </p:nvSpPr>
        <p:spPr>
          <a:xfrm>
            <a:off x="8238744" y="43982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3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880" dirty="0"/>
          </a:p>
        </p:txBody>
      </p:sp>
      <p:sp>
        <p:nvSpPr>
          <p:cNvPr id="20" name="Text 16"/>
          <p:cNvSpPr txBox="1"/>
          <p:nvPr/>
        </p:nvSpPr>
        <p:spPr>
          <a:xfrm>
            <a:off x="9509760" y="4398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3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precision</a:t>
            </a:r>
            <a:endParaRPr lang="en-US" sz="880" dirty="0"/>
          </a:p>
        </p:txBody>
      </p:sp>
      <p:sp>
        <p:nvSpPr>
          <p:cNvPr id="21" name="Text 17"/>
          <p:cNvSpPr txBox="1"/>
          <p:nvPr/>
        </p:nvSpPr>
        <p:spPr>
          <a:xfrm>
            <a:off x="804672" y="4773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SVM</a:t>
            </a:r>
            <a:endParaRPr lang="en-US" sz="970" dirty="0"/>
          </a:p>
        </p:txBody>
      </p:sp>
      <p:sp>
        <p:nvSpPr>
          <p:cNvPr id="22" name="Text 18"/>
          <p:cNvSpPr txBox="1"/>
          <p:nvPr/>
        </p:nvSpPr>
        <p:spPr>
          <a:xfrm>
            <a:off x="3840480" y="4773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80.96%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4956048" y="477316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79.64%</a:t>
            </a:r>
            <a:endParaRPr lang="en-US" sz="940" dirty="0"/>
          </a:p>
        </p:txBody>
      </p:sp>
      <p:sp>
        <p:nvSpPr>
          <p:cNvPr id="24" name="Text 20"/>
          <p:cNvSpPr txBox="1"/>
          <p:nvPr/>
        </p:nvSpPr>
        <p:spPr>
          <a:xfrm>
            <a:off x="6089904" y="477316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74.77%</a:t>
            </a:r>
            <a:endParaRPr lang="en-US" sz="940" dirty="0"/>
          </a:p>
        </p:txBody>
      </p:sp>
      <p:sp>
        <p:nvSpPr>
          <p:cNvPr id="25" name="Text 21"/>
          <p:cNvSpPr txBox="1"/>
          <p:nvPr/>
        </p:nvSpPr>
        <p:spPr>
          <a:xfrm>
            <a:off x="7159752" y="477316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77.13%</a:t>
            </a:r>
            <a:endParaRPr lang="en-US" sz="940" dirty="0"/>
          </a:p>
        </p:txBody>
      </p:sp>
      <p:sp>
        <p:nvSpPr>
          <p:cNvPr id="26" name="Text 22"/>
          <p:cNvSpPr txBox="1"/>
          <p:nvPr/>
        </p:nvSpPr>
        <p:spPr>
          <a:xfrm>
            <a:off x="8238744" y="4773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0.8629</a:t>
            </a:r>
            <a:endParaRPr lang="en-US" sz="940" dirty="0"/>
          </a:p>
        </p:txBody>
      </p:sp>
      <p:sp>
        <p:nvSpPr>
          <p:cNvPr id="27" name="Text 23"/>
          <p:cNvSpPr txBox="1"/>
          <p:nvPr/>
        </p:nvSpPr>
        <p:spPr>
          <a:xfrm>
            <a:off x="9509760" y="4773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0.8572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722376" y="5120640"/>
            <a:ext cx="10570464" cy="338328"/>
          </a:xfrm>
          <a:prstGeom prst="roundRect">
            <a:avLst>
              <a:gd name="adj" fmla="val 16216"/>
            </a:avLst>
          </a:prstGeom>
          <a:solidFill>
            <a:srgbClr val="EDF4F2"/>
          </a:solidFill>
          <a:ln w="12700">
            <a:solidFill>
              <a:srgbClr val="EDF4F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04672" y="5166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Logistic Regression</a:t>
            </a:r>
            <a:endParaRPr lang="en-US" sz="970" dirty="0"/>
          </a:p>
        </p:txBody>
      </p:sp>
      <p:sp>
        <p:nvSpPr>
          <p:cNvPr id="30" name="Text 26"/>
          <p:cNvSpPr txBox="1"/>
          <p:nvPr/>
        </p:nvSpPr>
        <p:spPr>
          <a:xfrm>
            <a:off x="3840480" y="5166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81.29%</a:t>
            </a:r>
            <a:endParaRPr lang="en-US" sz="940" dirty="0"/>
          </a:p>
        </p:txBody>
      </p:sp>
      <p:sp>
        <p:nvSpPr>
          <p:cNvPr id="31" name="Text 27"/>
          <p:cNvSpPr txBox="1"/>
          <p:nvPr/>
        </p:nvSpPr>
        <p:spPr>
          <a:xfrm>
            <a:off x="4956048" y="516636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82.54%</a:t>
            </a:r>
            <a:endParaRPr lang="en-US" sz="940" dirty="0"/>
          </a:p>
        </p:txBody>
      </p:sp>
      <p:sp>
        <p:nvSpPr>
          <p:cNvPr id="32" name="Text 28"/>
          <p:cNvSpPr txBox="1"/>
          <p:nvPr/>
        </p:nvSpPr>
        <p:spPr>
          <a:xfrm>
            <a:off x="6089904" y="516636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71.56%</a:t>
            </a:r>
            <a:endParaRPr lang="en-US" sz="940" dirty="0"/>
          </a:p>
        </p:txBody>
      </p:sp>
      <p:sp>
        <p:nvSpPr>
          <p:cNvPr id="33" name="Text 29"/>
          <p:cNvSpPr txBox="1"/>
          <p:nvPr/>
        </p:nvSpPr>
        <p:spPr>
          <a:xfrm>
            <a:off x="7159752" y="516636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76.66%</a:t>
            </a:r>
            <a:endParaRPr lang="en-US" sz="940" dirty="0"/>
          </a:p>
        </p:txBody>
      </p:sp>
      <p:sp>
        <p:nvSpPr>
          <p:cNvPr id="34" name="Text 30"/>
          <p:cNvSpPr txBox="1"/>
          <p:nvPr/>
        </p:nvSpPr>
        <p:spPr>
          <a:xfrm>
            <a:off x="8238744" y="5166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0.8752</a:t>
            </a:r>
            <a:endParaRPr lang="en-US" sz="940" dirty="0"/>
          </a:p>
        </p:txBody>
      </p:sp>
      <p:sp>
        <p:nvSpPr>
          <p:cNvPr id="35" name="Text 31"/>
          <p:cNvSpPr txBox="1"/>
          <p:nvPr/>
        </p:nvSpPr>
        <p:spPr>
          <a:xfrm>
            <a:off x="9509760" y="5166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0.8732</a:t>
            </a:r>
            <a:endParaRPr lang="en-US" sz="940" dirty="0"/>
          </a:p>
        </p:txBody>
      </p:sp>
      <p:sp>
        <p:nvSpPr>
          <p:cNvPr id="36" name="Text 32"/>
          <p:cNvSpPr txBox="1"/>
          <p:nvPr/>
        </p:nvSpPr>
        <p:spPr>
          <a:xfrm>
            <a:off x="804672" y="5559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Multinomial Naive Bayes</a:t>
            </a:r>
            <a:endParaRPr lang="en-US" sz="970" dirty="0"/>
          </a:p>
        </p:txBody>
      </p:sp>
      <p:sp>
        <p:nvSpPr>
          <p:cNvPr id="37" name="Text 33"/>
          <p:cNvSpPr txBox="1"/>
          <p:nvPr/>
        </p:nvSpPr>
        <p:spPr>
          <a:xfrm>
            <a:off x="3840480" y="5559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80.63%</a:t>
            </a:r>
            <a:endParaRPr lang="en-US" sz="940" dirty="0"/>
          </a:p>
        </p:txBody>
      </p:sp>
      <p:sp>
        <p:nvSpPr>
          <p:cNvPr id="38" name="Text 34"/>
          <p:cNvSpPr txBox="1"/>
          <p:nvPr/>
        </p:nvSpPr>
        <p:spPr>
          <a:xfrm>
            <a:off x="4956048" y="5559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84.06%</a:t>
            </a:r>
            <a:endParaRPr lang="en-US" sz="940" dirty="0"/>
          </a:p>
        </p:txBody>
      </p:sp>
      <p:sp>
        <p:nvSpPr>
          <p:cNvPr id="39" name="Text 35"/>
          <p:cNvSpPr txBox="1"/>
          <p:nvPr/>
        </p:nvSpPr>
        <p:spPr>
          <a:xfrm>
            <a:off x="6089904" y="555955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67.74%</a:t>
            </a:r>
            <a:endParaRPr lang="en-US" sz="940" dirty="0"/>
          </a:p>
        </p:txBody>
      </p:sp>
      <p:sp>
        <p:nvSpPr>
          <p:cNvPr id="40" name="Text 36"/>
          <p:cNvSpPr txBox="1"/>
          <p:nvPr/>
        </p:nvSpPr>
        <p:spPr>
          <a:xfrm>
            <a:off x="7159752" y="5559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75.02%</a:t>
            </a:r>
            <a:endParaRPr lang="en-US" sz="940" dirty="0"/>
          </a:p>
        </p:txBody>
      </p:sp>
      <p:sp>
        <p:nvSpPr>
          <p:cNvPr id="41" name="Text 37"/>
          <p:cNvSpPr txBox="1"/>
          <p:nvPr/>
        </p:nvSpPr>
        <p:spPr>
          <a:xfrm>
            <a:off x="8238744" y="5559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0.8696</a:t>
            </a:r>
            <a:endParaRPr lang="en-US" sz="940" dirty="0"/>
          </a:p>
        </p:txBody>
      </p:sp>
      <p:sp>
        <p:nvSpPr>
          <p:cNvPr id="42" name="Text 38"/>
          <p:cNvSpPr txBox="1"/>
          <p:nvPr/>
        </p:nvSpPr>
        <p:spPr>
          <a:xfrm>
            <a:off x="9509760" y="5559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0.8704</a:t>
            </a:r>
            <a:endParaRPr lang="en-US" sz="940" dirty="0"/>
          </a:p>
        </p:txBody>
      </p:sp>
      <p:sp>
        <p:nvSpPr>
          <p:cNvPr id="43" name="Text 39"/>
          <p:cNvSpPr txBox="1"/>
          <p:nvPr/>
        </p:nvSpPr>
        <p:spPr>
          <a:xfrm>
            <a:off x="804672" y="5934456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on test: SVM F1/recall  ·  Logistic ROC-AUC/AP  ·  Naive Bayes precision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· VALIDATION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Generalization is stable; social-media artifacts shift the error profile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124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stress tests are useful diagnostics, not substitutes for newer out-of-domain data.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E8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TWEET CLASSIFICATION  /  NLP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3504" y="1581912"/>
            <a:ext cx="4910328" cy="4480560"/>
          </a:xfrm>
          <a:prstGeom prst="roundRect">
            <a:avLst>
              <a:gd name="adj" fmla="val 1633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across evaluation layers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5420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560320"/>
            <a:ext cx="2633472" cy="228600"/>
          </a:xfrm>
          <a:prstGeom prst="roundRect">
            <a:avLst>
              <a:gd name="adj" fmla="val 48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560320"/>
            <a:ext cx="2472830" cy="228600"/>
          </a:xfrm>
          <a:prstGeom prst="roundRect">
            <a:avLst>
              <a:gd name="adj" fmla="val 48000"/>
            </a:avLst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254203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F3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84.5%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3284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5-fold CV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3346704"/>
            <a:ext cx="2633472" cy="228600"/>
          </a:xfrm>
          <a:prstGeom prst="roundRect">
            <a:avLst>
              <a:gd name="adj" fmla="val 48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3346704"/>
            <a:ext cx="2203631" cy="228600"/>
          </a:xfrm>
          <a:prstGeom prst="roundRect">
            <a:avLst>
              <a:gd name="adj" fmla="val 48000"/>
            </a:avLst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332841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75.3%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114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4133088"/>
            <a:ext cx="2633472" cy="228600"/>
          </a:xfrm>
          <a:prstGeom prst="roundRect">
            <a:avLst>
              <a:gd name="adj" fmla="val 48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4133088"/>
            <a:ext cx="2243133" cy="228600"/>
          </a:xfrm>
          <a:prstGeom prst="roundRect">
            <a:avLst>
              <a:gd name="adj" fmla="val 48000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411480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76.7%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5001768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FFF8F2"/>
          </a:solidFill>
          <a:ln w="12700">
            <a:solidFill>
              <a:srgbClr val="F0D2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5001768"/>
            <a:ext cx="82296" cy="768096"/>
          </a:xfrm>
          <a:prstGeom prst="rect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51297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 readout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394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Train–CV F1 gap: +9.2 points. Test F1 is 1.35 points above the CV mean, so this split shows no material generalization drop.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42432" y="1581912"/>
            <a:ext cx="5596128" cy="4480560"/>
          </a:xfrm>
          <a:prstGeom prst="roundRect">
            <a:avLst>
              <a:gd name="adj" fmla="val 1633"/>
            </a:avLst>
          </a:prstGeom>
          <a:solidFill>
            <a:srgbClr val="FFFDF8"/>
          </a:solidFill>
          <a:ln w="12700">
            <a:solidFill>
              <a:srgbClr val="DDD6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stress test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46888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35824" y="2496312"/>
            <a:ext cx="2249424" cy="182880"/>
          </a:xfrm>
          <a:prstGeom prst="roundRect">
            <a:avLst>
              <a:gd name="adj" fmla="val 50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35824" y="2496312"/>
            <a:ext cx="2102937" cy="182880"/>
          </a:xfrm>
          <a:prstGeom prst="roundRect">
            <a:avLst>
              <a:gd name="adj" fmla="val 50000"/>
            </a:avLst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40112" y="2468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76.7%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735824" y="27249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100.0%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310896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Uppercase + punctuation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35824" y="3136392"/>
            <a:ext cx="2249424" cy="182880"/>
          </a:xfrm>
          <a:prstGeom prst="roundRect">
            <a:avLst>
              <a:gd name="adj" fmla="val 50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35824" y="3136392"/>
            <a:ext cx="2042312" cy="182880"/>
          </a:xfrm>
          <a:prstGeom prst="roundRect">
            <a:avLst>
              <a:gd name="adj" fmla="val 50000"/>
            </a:avLst>
          </a:prstGeom>
          <a:solidFill>
            <a:srgbClr val="D5A64A"/>
          </a:solidFill>
          <a:ln w="12700">
            <a:solidFill>
              <a:srgbClr val="D5A6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40112" y="31089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74.5%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735824" y="33649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94.6%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374904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abbreviations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35824" y="3776472"/>
            <a:ext cx="2249424" cy="182880"/>
          </a:xfrm>
          <a:prstGeom prst="roundRect">
            <a:avLst>
              <a:gd name="adj" fmla="val 50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35824" y="3776472"/>
            <a:ext cx="2096628" cy="182880"/>
          </a:xfrm>
          <a:prstGeom prst="roundRect">
            <a:avLst>
              <a:gd name="adj" fmla="val 50000"/>
            </a:avLst>
          </a:prstGeom>
          <a:solidFill>
            <a:srgbClr val="6F3A52"/>
          </a:solidFill>
          <a:ln w="12700">
            <a:solidFill>
              <a:srgbClr val="6F3A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40112" y="3749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3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76.4%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735824" y="40050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99.0%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035040" y="438912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# @ URL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735824" y="4416552"/>
            <a:ext cx="2249424" cy="182880"/>
          </a:xfrm>
          <a:prstGeom prst="roundRect">
            <a:avLst>
              <a:gd name="adj" fmla="val 50000"/>
            </a:avLst>
          </a:prstGeom>
          <a:solidFill>
            <a:srgbClr val="E9E3DA"/>
          </a:solidFill>
          <a:ln w="12700">
            <a:solidFill>
              <a:srgbClr val="E9E3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35824" y="4416552"/>
            <a:ext cx="2084558" cy="182880"/>
          </a:xfrm>
          <a:prstGeom prst="roundRect">
            <a:avLst>
              <a:gd name="adj" fmla="val 50000"/>
            </a:avLst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40112" y="4389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76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76.0%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735824" y="46451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87.7%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5202936"/>
            <a:ext cx="4965192" cy="566928"/>
          </a:xfrm>
          <a:prstGeom prst="roundRect">
            <a:avLst>
              <a:gd name="adj" fmla="val 12903"/>
            </a:avLst>
          </a:prstGeom>
          <a:solidFill>
            <a:srgbClr val="FFF8F2"/>
          </a:solidFill>
          <a:ln w="12700">
            <a:solidFill>
              <a:srgbClr val="F0D2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5202936"/>
            <a:ext cx="82296" cy="566928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36208" y="5330952"/>
            <a:ext cx="4645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signal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236208" y="5596128"/>
            <a:ext cx="46451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Adding generic hashtag, mention and URL artifacts raises recall to 81.8% but lowers precision to 71.0%—a false-alarm shift.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C73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11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 ·  DEPLOYMENT AND NEXT STEPS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73152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governed human-in-the-loop triage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307592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CE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includes a Streamlit entry point, shared predictor, themed configuration, pinned dependencies and hosting guidance.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993392"/>
            <a:ext cx="3675888" cy="3502152"/>
          </a:xfrm>
          <a:prstGeom prst="roundRect">
            <a:avLst>
              <a:gd name="adj" fmla="val 2089"/>
            </a:avLst>
          </a:prstGeom>
          <a:solidFill>
            <a:srgbClr val="2B3039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user flow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816352"/>
            <a:ext cx="310896" cy="310896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8620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399032" y="2816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9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a tweet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364992"/>
            <a:ext cx="310896" cy="310896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41071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399032" y="3364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9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persisted pipeline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913632"/>
            <a:ext cx="310896" cy="310896"/>
          </a:xfrm>
          <a:prstGeom prst="ellipse">
            <a:avLst/>
          </a:prstGeom>
          <a:solidFill>
            <a:srgbClr val="0C7C79"/>
          </a:solidFill>
          <a:ln w="12700">
            <a:solidFill>
              <a:srgbClr val="0C7C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593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9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class + score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4462272"/>
            <a:ext cx="310896" cy="310896"/>
          </a:xfrm>
          <a:prstGeom prst="ellipse">
            <a:avLst/>
          </a:prstGeom>
          <a:solidFill>
            <a:srgbClr val="E7654B"/>
          </a:solidFill>
          <a:ln w="12700">
            <a:solidFill>
              <a:srgbClr val="E765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50799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399032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9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verifies context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074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deployment-ready prototype; not published to a public host.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17136" y="1993392"/>
            <a:ext cx="7059168" cy="3502152"/>
          </a:xfrm>
          <a:prstGeom prst="roundRect">
            <a:avLst>
              <a:gd name="adj" fmla="val 2089"/>
            </a:avLst>
          </a:prstGeom>
          <a:solidFill>
            <a:srgbClr val="252B33"/>
          </a:solidFill>
          <a:ln w="12700">
            <a:solidFill>
              <a:srgbClr val="3A41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18888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actions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27797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66944" y="27797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source count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266944" y="30358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FC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7,613 vs. 10,000 rows and refresh metrics if needed.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35478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266944" y="3547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prospectively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266944" y="38039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FC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newer events, regions, slang, dialects and real artifacts.</a:t>
            </a:r>
            <a:endParaRPr lang="en-US" sz="92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43159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266944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threshold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266944" y="4572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FC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Quantify missed-event vs. false-alarm costs on validation data.</a:t>
            </a:r>
            <a:endParaRPr lang="en-US" sz="920" dirty="0"/>
          </a:p>
        </p:txBody>
      </p:sp>
      <p:sp>
        <p:nvSpPr>
          <p:cNvPr id="33" name="Text 31"/>
          <p:cNvSpPr txBox="1"/>
          <p:nvPr/>
        </p:nvSpPr>
        <p:spPr>
          <a:xfrm>
            <a:off x="8074152" y="27797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513064" y="27797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 + monitor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513064" y="30358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FC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scores, drift and precision/recall after deployment.</a:t>
            </a:r>
            <a:endParaRPr lang="en-US" sz="920" dirty="0"/>
          </a:p>
        </p:txBody>
      </p:sp>
      <p:sp>
        <p:nvSpPr>
          <p:cNvPr id="36" name="Text 34"/>
          <p:cNvSpPr txBox="1"/>
          <p:nvPr/>
        </p:nvSpPr>
        <p:spPr>
          <a:xfrm>
            <a:off x="8074152" y="35478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513064" y="3547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human review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513064" y="38039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FC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urgent reports with trusted sources before action.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30936" y="5824728"/>
            <a:ext cx="10917936" cy="0"/>
          </a:xfrm>
          <a:prstGeom prst="line">
            <a:avLst/>
          </a:prstGeom>
          <a:noFill/>
          <a:ln w="12700">
            <a:solidFill>
              <a:srgbClr val="3D45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" y="60533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D5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810512" y="5943600"/>
            <a:ext cx="941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transparent TF-IDF baseline can prioritize likely disaster tweets with 82.5% precision—but must remain monitored, thresholded and verified by people.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F98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Machine Learning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Tweet Classification — NLP Project</dc:title>
  <dc:subject>NLP disaster tweet classification project</dc:subject>
  <dc:creator>Om Prakash</dc:creator>
  <cp:lastModifiedBy>Om Prakash</cp:lastModifiedBy>
  <cp:revision>1</cp:revision>
  <dcterms:created xsi:type="dcterms:W3CDTF">2026-10-07T20:56:32Z</dcterms:created>
  <dcterms:modified xsi:type="dcterms:W3CDTF">2026-10-07T20:56:32Z</dcterms:modified>
</cp:coreProperties>
</file>